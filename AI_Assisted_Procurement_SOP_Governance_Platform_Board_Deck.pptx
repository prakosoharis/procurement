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D"/>
          </a:solidFill>
          <a:ln w="12700">
            <a:solidFill>
              <a:srgbClr val="071A3D">
                <a:alpha val="0"/>
              </a:srgbClr>
            </a:solidFill>
            <a:prstDash val="solid"/>
          </a:ln>
        </p:spPr>
      </p:sp>
      <p:pic>
        <p:nvPicPr>
          <p:cNvPr id="3" name="Image 0" descr="/mnt/data/procurement_governance_dashboard_overview.png">    </p:cNvPr>
          <p:cNvPicPr>
            <a:picLocks noChangeAspect="1"/>
          </p:cNvPicPr>
          <p:nvPr/>
        </p:nvPicPr>
        <p:blipFill>
          <a:blip r:embed="rId1">
            <a:alphaModFix amt="84000"/>
          </a:blip>
          <a:stretch>
            <a:fillRect/>
          </a:stretch>
        </p:blipFill>
        <p:spPr>
          <a:xfrm>
            <a:off x="6537960" y="457200"/>
            <a:ext cx="5074920" cy="2852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55080" y="0"/>
            <a:ext cx="5833872" cy="3794760"/>
          </a:xfrm>
          <a:prstGeom prst="rect">
            <a:avLst/>
          </a:prstGeom>
          <a:solidFill>
            <a:srgbClr val="071A3D">
              <a:alpha val="70000"/>
            </a:srgbClr>
          </a:solidFill>
          <a:ln w="12700">
            <a:solidFill>
              <a:srgbClr val="071A3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585216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6294F"/>
          </a:solidFill>
          <a:ln w="12700">
            <a:solidFill>
              <a:srgbClr val="16294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" y="65379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Board-ready master plan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94360" y="1124712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Procurement SOP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Platform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21792" y="2542032"/>
            <a:ext cx="52120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6DE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governance platform for managing procurement SOP requests, AI-assisted refinement, validation, publishing, monitoring, and executive visibility across business units.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" y="3246120"/>
            <a:ext cx="914400" cy="0"/>
          </a:xfrm>
          <a:prstGeom prst="line">
            <a:avLst/>
          </a:prstGeom>
          <a:noFill/>
          <a:ln w="29210">
            <a:solidFill>
              <a:srgbClr val="C91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3429000"/>
            <a:ext cx="53035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document portal to lifecycle governance platform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21792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4BE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Revised board deck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21792" y="4279392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0F2B58"/>
          </a:solidFill>
          <a:ln w="10160">
            <a:solidFill>
              <a:srgbClr val="2C4A7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6112" y="45171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423160" y="4681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→ Refine → Validate → Publish → Monitor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446520" y="438912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434340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view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595360" y="438912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50808" y="4343400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risk summary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46520" y="486460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481888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copilot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595360" y="486460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50808" y="4818888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schedule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 Idea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message that should anchor the whole discussion.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building a governance platform,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just a document portal.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2615184"/>
            <a:ext cx="57150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ensure procurement SOPs across business units are properly documented, reviewed, validated, aligned with regulations, and followed up with clear ownership and measurable timelines.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" y="3520440"/>
            <a:ext cx="1097280" cy="0"/>
          </a:xfrm>
          <a:prstGeom prst="line">
            <a:avLst/>
          </a:prstGeom>
          <a:noFill/>
          <a:ln w="25400">
            <a:solidFill>
              <a:srgbClr val="C918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417320"/>
            <a:ext cx="43891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1755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121408"/>
            <a:ext cx="1143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interface.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23960" y="2331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platform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42248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function.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0" cy="1280160"/>
          </a:xfrm>
          <a:prstGeom prst="line">
            <a:avLst/>
          </a:prstGeom>
          <a:noFill/>
          <a:ln w="12700">
            <a:solidFill>
              <a:srgbClr val="CCD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3749040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FFF8F8"/>
          </a:solidFill>
          <a:ln w="10160">
            <a:solidFill>
              <a:srgbClr val="F4C5C7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399592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Positioning shift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4315968"/>
            <a:ext cx="3703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storage and access into lifecycle governance.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68096" y="6053328"/>
            <a:ext cx="10241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wording avoids the confusion of “operating system” while keeping the strategic ambition clear.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As-Is: The Current Reality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issue is not only document storage. The bigger issue is fragmented SOP governance.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618488"/>
            <a:ext cx="246888" cy="246888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50492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078992" y="1600200"/>
            <a:ext cx="4544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SOPs are scattered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18745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BUs, formats, owners, and storage habits.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31520" y="2761488"/>
            <a:ext cx="246888" cy="246888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93492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078992" y="2743200"/>
            <a:ext cx="4544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 is unclear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78992" y="30175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PIC, active version, and approval status are not always visible.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31520" y="3904488"/>
            <a:ext cx="246888" cy="246888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36492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78992" y="3886200"/>
            <a:ext cx="4544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Requests are manual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78992" y="41605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SOP/template requests can live in email, chat, or meetings.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263640" y="1618488"/>
            <a:ext cx="246888" cy="24688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650492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11112" y="1600200"/>
            <a:ext cx="4544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takes time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11112" y="18745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teams read, compare, and consolidate manually.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263640" y="2761488"/>
            <a:ext cx="246888" cy="24688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793492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611112" y="2743200"/>
            <a:ext cx="4544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Updates are not linked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11112" y="30175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Regulations, audit findings, and business needs may not directly trigger SOP changes.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263640" y="3904488"/>
            <a:ext cx="246888" cy="24688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936492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611112" y="3886200"/>
            <a:ext cx="4544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is hard to monitor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11112" y="41605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Owners, due dates, and progress are not always visible to management.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13232" y="5669280"/>
            <a:ext cx="10789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E3E9F2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" y="5824728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pattern: fragmented inputs, manual review, unclear ownership, and delayed visibility.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To-Be: How the Platform Solves 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target capability directly answers a current pain point.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8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As-Is Pain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19472" y="14447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8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To-Be Solution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572768"/>
            <a:ext cx="0" cy="4434840"/>
          </a:xfrm>
          <a:prstGeom prst="line">
            <a:avLst/>
          </a:prstGeom>
          <a:noFill/>
          <a:ln w="12700">
            <a:solidFill>
              <a:srgbClr val="C7D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470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 are scattered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160520" y="1956816"/>
            <a:ext cx="502920" cy="0"/>
          </a:xfrm>
          <a:prstGeom prst="line">
            <a:avLst/>
          </a:prstGeom>
          <a:noFill/>
          <a:ln w="17780">
            <a:solidFill>
              <a:srgbClr val="C9181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892040" y="18470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SOP repository with version history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777240" y="25054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is unclear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160520" y="2615184"/>
            <a:ext cx="502920" cy="0"/>
          </a:xfrm>
          <a:prstGeom prst="line">
            <a:avLst/>
          </a:prstGeom>
          <a:noFill/>
          <a:ln w="17780">
            <a:solidFill>
              <a:srgbClr val="C9181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92040" y="250545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SOP has BU, PIC, status, language, and approval trail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777240" y="31638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are manual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160520" y="3273552"/>
            <a:ext cx="502920" cy="0"/>
          </a:xfrm>
          <a:prstGeom prst="line">
            <a:avLst/>
          </a:prstGeom>
          <a:noFill/>
          <a:ln w="17780">
            <a:solidFill>
              <a:srgbClr val="C9181E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892040" y="31638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can submit SOP requests and use AI-assisted template drafting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777240" y="38221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takes time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160520" y="3931920"/>
            <a:ext cx="502920" cy="0"/>
          </a:xfrm>
          <a:prstGeom prst="line">
            <a:avLst/>
          </a:prstGeom>
          <a:noFill/>
          <a:ln w="17780">
            <a:solidFill>
              <a:srgbClr val="C9181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92040" y="38221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Refinement compares draft/current SOP against preferred references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are not linked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160520" y="4590288"/>
            <a:ext cx="502920" cy="0"/>
          </a:xfrm>
          <a:prstGeom prst="line">
            <a:avLst/>
          </a:prstGeom>
          <a:noFill/>
          <a:ln w="17780">
            <a:solidFill>
              <a:srgbClr val="C9181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892040" y="44805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Regulation, audit findings, business needs, fraud signals, and analysis become triggers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777240" y="5138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is hard to monitor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160520" y="5248656"/>
            <a:ext cx="502920" cy="0"/>
          </a:xfrm>
          <a:prstGeom prst="line">
            <a:avLst/>
          </a:prstGeom>
          <a:noFill/>
          <a:ln w="17780">
            <a:solidFill>
              <a:srgbClr val="C9181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892040" y="5138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tracking, notification, and integration to ClickUp/Jira when needed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777240" y="6144768"/>
            <a:ext cx="96012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80" i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To-Be model is designed to close the exact governance gaps seen in the As-Is condition.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definition management can repeat.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81328"/>
            <a:ext cx="3337560" cy="292608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49908"/>
            <a:ext cx="3118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centralized governance platform for managing the procurement SOP lifecycle across business units, from new SOP request and AI-assisted template drafting to SOP Refinement, human validation, repository publishing, monitoring, and executive intelligence.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4407408"/>
            <a:ext cx="2377440" cy="0"/>
          </a:xfrm>
          <a:prstGeom prst="line">
            <a:avLst/>
          </a:prstGeom>
          <a:noFill/>
          <a:ln w="25400">
            <a:solidFill>
              <a:srgbClr val="C918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Multilingual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Indonesian and English communication across countries.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617720" y="4407408"/>
            <a:ext cx="2377440" cy="0"/>
          </a:xfrm>
          <a:prstGeom prst="line">
            <a:avLst/>
          </a:prstGeom>
          <a:noFill/>
          <a:ln w="25400">
            <a:solidFill>
              <a:srgbClr val="1E5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5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49560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support more BUs, entities, and future regional expansion.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412480" y="4407408"/>
            <a:ext cx="237744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49560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Compliance remains the final validator and approver.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arget_operating_model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SOP Refinement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analysis step: draft/current SOP versus preferred reference layer.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/ Current SOP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9260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draft, AI-generated template, or existing SOP version from repository.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20624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Preferred Reference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6126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of current SOP vs preferred data, regulation, theory, best practice, business needs, audit finding, fraud detection (AI), spending analysis (AI)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983480" y="2761488"/>
            <a:ext cx="64008" cy="64008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data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983480" y="3108960"/>
            <a:ext cx="64008" cy="64008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3044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983480" y="3456432"/>
            <a:ext cx="64008" cy="64008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4" y="33924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983480" y="3803904"/>
            <a:ext cx="64008" cy="64008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3739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practice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863840" y="2761488"/>
            <a:ext cx="64008" cy="6400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0144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needs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863840" y="3108960"/>
            <a:ext cx="64008" cy="6400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3044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finding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863840" y="3456432"/>
            <a:ext cx="64008" cy="6400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0144" y="33924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 (AI)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863840" y="3803904"/>
            <a:ext cx="64008" cy="6400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3739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 analysis (AI)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822960" y="4736592"/>
            <a:ext cx="2103120" cy="0"/>
          </a:xfrm>
          <a:prstGeom prst="line">
            <a:avLst/>
          </a:prstGeom>
          <a:noFill/>
          <a:ln w="25400">
            <a:solidFill>
              <a:srgbClr val="6C3D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965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3D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output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gap, recommendation, evidence, fraud indicator, analytical note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4526280" y="4736592"/>
            <a:ext cx="210312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4965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control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2628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Compliance validates before it becomes official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229600" y="4736592"/>
            <a:ext cx="2103120" cy="0"/>
          </a:xfrm>
          <a:prstGeom prst="line">
            <a:avLst/>
          </a:prstGeom>
          <a:noFill/>
          <a:ln w="25400">
            <a:solidFill>
              <a:srgbClr val="C918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4965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result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SOP is published as new SOP or new version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Experience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pic>
        <p:nvPicPr>
          <p:cNvPr id="6" name="Image 0" descr="/mnt/data/procurement_governance_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143000"/>
            <a:ext cx="9829800" cy="5532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Uses 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platform, different lens. Operational users need detail; executives need clarity.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04672" y="1664208"/>
            <a:ext cx="347472" cy="347472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Unit Compliance / PIC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1576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7004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new SOP/template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08152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AI draft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49300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or update SOP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395020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90448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to finding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436168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31596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action 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1755648"/>
            <a:ext cx="0" cy="3611880"/>
          </a:xfrm>
          <a:prstGeom prst="line">
            <a:avLst/>
          </a:prstGeom>
          <a:noFill/>
          <a:ln w="8890">
            <a:solidFill>
              <a:srgbClr val="DC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1144" y="1664208"/>
            <a:ext cx="347472" cy="347472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Corporate Compliance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53712" y="271576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67004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SOP requests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53712" y="312724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08152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SOP Refinement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53712" y="353872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49300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AI findings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53712" y="395020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90448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Approve/reject recommendations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53712" y="436168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31596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actions and owners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82712" y="1755648"/>
            <a:ext cx="0" cy="3611880"/>
          </a:xfrm>
          <a:prstGeom prst="line">
            <a:avLst/>
          </a:prstGeom>
          <a:noFill/>
          <a:ln w="8890">
            <a:solidFill>
              <a:srgbClr val="DCE4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57616" y="166420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Director / Executive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30184" y="271576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267004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risk overview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330184" y="312724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308152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strategic questions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330184" y="353872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349300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high-risk issues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330184" y="395020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390448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executive summaries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330184" y="436168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431596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lifecycle health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Capabilities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focuses on SOP lifecycle governance, not replacing existing execution tools.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" y="1581912"/>
            <a:ext cx="548640" cy="0"/>
          </a:xfrm>
          <a:prstGeom prst="line">
            <a:avLst/>
          </a:prstGeom>
          <a:noFill/>
          <a:ln w="27940">
            <a:solidFill>
              <a:srgbClr val="C918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50876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SOP Repository &amp; Version Control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1554480" y="181965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SOPs, ownership, language, status, and history.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355080" y="1581912"/>
            <a:ext cx="548640" cy="0"/>
          </a:xfrm>
          <a:prstGeom prst="line">
            <a:avLst/>
          </a:prstGeom>
          <a:noFill/>
          <a:ln w="27940">
            <a:solidFill>
              <a:srgbClr val="1E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50876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SOP Request &amp; AI Template Drafting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040880" y="181965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 can request new SOPs and generate initial templates.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68680" y="2651760"/>
            <a:ext cx="548640" cy="0"/>
          </a:xfrm>
          <a:prstGeom prst="line">
            <a:avLst/>
          </a:prstGeom>
          <a:noFill/>
          <a:ln w="27940">
            <a:solidFill>
              <a:srgbClr val="C98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578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SOP Refinement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554480" y="288950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Draft/current SOP compared with preferred references and AI analysis.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355080" y="2651760"/>
            <a:ext cx="54864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578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Human Validation &amp; Approval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040880" y="288950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Compliance validates, approves, rejects, or requests revision.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68680" y="3721608"/>
            <a:ext cx="548640" cy="0"/>
          </a:xfrm>
          <a:prstGeom prst="line">
            <a:avLst/>
          </a:prstGeom>
          <a:noFill/>
          <a:ln w="27940">
            <a:solidFill>
              <a:srgbClr val="6C3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648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Action Tracking &amp; Notification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1554480" y="39593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Owner, due date, reminder, escalation, and PM tool integration.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355080" y="3721608"/>
            <a:ext cx="54864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648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Executive Intelligence &amp; Copilot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7040880" y="39593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summary, risk view, and strategic Q&amp;A.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877824" y="5742432"/>
            <a:ext cx="103327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i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ClickUp/Jira remains an execution layer. The platform provides governance context, validated actions, and executive visibility.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3 Months: Launch Fast, But Safely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limited production launch for pilot BUs, not the full enterprise dream in one heroic sprint.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Included in Release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201168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965960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/ Procurement Governance Hub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41248" y="230428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258568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repository v1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1248" y="2596896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5117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request form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" y="2889504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843784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template draft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1248" y="3182112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136392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reference upload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" y="347472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3429000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Refinement v1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41248" y="376732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721608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validation workflow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1248" y="4059936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401421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action tracking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41248" y="4352544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" y="4306824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dashboard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41248" y="4645152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" y="4599432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ID/EN support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in Release 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19088" y="201168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4536" y="1965960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auto-scraping all regulators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19088" y="2340864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2295144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final approval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19088" y="267004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2624328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19088" y="2999232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2953512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multi-country localization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19088" y="3328416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3282696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two-way ClickUp/Jira sync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19088" y="365760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3611880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Enterprise-wide rollout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19088" y="3986784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4536" y="3941064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fraud analytics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2960" y="5897880"/>
            <a:ext cx="1069848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51560" y="6025896"/>
            <a:ext cx="10058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Promise: usable in 3 months, then matured through staged releases.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12-Month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deliverables, not vague consultant fog. A rare kindness.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51560" y="2148840"/>
            <a:ext cx="987552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993392"/>
            <a:ext cx="329184" cy="32918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72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0-3 months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542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Launch for Pilot BU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v1, SOP request, AI template draft, manual references, SOP Refinement v1, validation, basic dashboard, ID/EN.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840480" y="1993392"/>
            <a:ext cx="329184" cy="329184"/>
          </a:xfrm>
          <a:prstGeom prst="ellipse">
            <a:avLst/>
          </a:prstGeom>
          <a:solidFill>
            <a:srgbClr val="1E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572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5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4-6 months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03320" y="2542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Stabilization &amp;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31272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BUs, email notification, ClickUp/Jira task creation, stronger approval flow, reviewer assignment, audit trail v1.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6629400" y="1993392"/>
            <a:ext cx="329184" cy="329184"/>
          </a:xfrm>
          <a:prstGeom prst="ellipse">
            <a:avLst/>
          </a:prstGeom>
          <a:solidFill>
            <a:srgbClr val="C982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72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82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7-9 months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2542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AI-Assisted Monitoring &amp; Executive Visibility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1272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regulatory monitoring, periodic SOP review schedule, AI impact analysis, fraud/anomaly signal, SLA and overdue tracking.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9418320" y="1993392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1572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10-12 months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81160" y="2542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Rollout &amp; Control Improvement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81160" y="31272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Multi-country readiness, advanced multilingual output, cross-BU SOP maturity comparison, stronger audit log, access control review, operational readiness.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868680" y="5897880"/>
            <a:ext cx="10698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“Cross-BU SOP maturity comparison” means comparing coverage, status, overdue actions, findings, and readiness across BUs.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Guardrails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must be useful, not creatively dangerous. Humanity already has enough of that.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457200" cy="0"/>
          </a:xfrm>
          <a:prstGeom prst="line">
            <a:avLst/>
          </a:prstGeom>
          <a:noFill/>
          <a:ln w="25400">
            <a:solidFill>
              <a:srgbClr val="C918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Context-bound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only from approved portal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457200" cy="0"/>
          </a:xfrm>
          <a:prstGeom prst="line">
            <a:avLst/>
          </a:prstGeom>
          <a:noFill/>
          <a:ln w="25400">
            <a:solidFill>
              <a:srgbClr val="1E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984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sources or say the data is not available.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45720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Human-approved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2520" y="1984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AI finding becomes official without review.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200400"/>
            <a:ext cx="457200" cy="0"/>
          </a:xfrm>
          <a:prstGeom prst="line">
            <a:avLst/>
          </a:prstGeom>
          <a:noFill/>
          <a:ln w="25400">
            <a:solidFill>
              <a:srgbClr val="C98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silent automation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38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cannot approve, close, or change official status by itself.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3200400"/>
            <a:ext cx="457200" cy="0"/>
          </a:xfrm>
          <a:prstGeom prst="line">
            <a:avLst/>
          </a:prstGeom>
          <a:noFill/>
          <a:ln w="25400">
            <a:solidFill>
              <a:srgbClr val="6C3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Logged decisions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538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Prompts, outputs, validations, and overrides are tracked.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1560" y="5577840"/>
            <a:ext cx="99669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25880" y="5751576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recommends, compares, detects patterns, and drafts. Corporate Compliance validates, approves, and decides.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Multilingual by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group operates across countries, ID/EN is not decoration. It is scale readiness.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14400" y="1901952"/>
            <a:ext cx="1554480" cy="0"/>
          </a:xfrm>
          <a:prstGeom prst="line">
            <a:avLst/>
          </a:prstGeom>
          <a:noFill/>
          <a:ln w="27940">
            <a:solidFill>
              <a:srgbClr val="C918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 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Menus, labels, status,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901952"/>
            <a:ext cx="1554480" cy="0"/>
          </a:xfrm>
          <a:prstGeom prst="line">
            <a:avLst/>
          </a:prstGeom>
          <a:noFill/>
          <a:ln w="27940">
            <a:solidFill>
              <a:srgbClr val="1E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SOPs and regulations in Indonesian or English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901952"/>
            <a:ext cx="1554480" cy="0"/>
          </a:xfrm>
          <a:prstGeom prst="line">
            <a:avLst/>
          </a:prstGeom>
          <a:noFill/>
          <a:ln w="27940">
            <a:solidFill>
              <a:srgbClr val="C98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Summary, recommendations, email drafts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18320" y="1901952"/>
            <a:ext cx="155448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ID/EN summaries and strategic Q&amp;A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Indonesian + English.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architecture so more languages can be added later without rebuilding the portal.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Intelligence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Directors need the helicopter view, not the engine room.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questions executives can ask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20240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BU has the highest compliance risk?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2359152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313432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top procurement issues this month?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2752344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706624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high-risk findings are overdue?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" y="3145536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099816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after the latest regulation update?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53872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493008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SOPs are waiting for validation?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886200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escalated this week?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1554480"/>
            <a:ext cx="0" cy="3886200"/>
          </a:xfrm>
          <a:prstGeom prst="line">
            <a:avLst/>
          </a:prstGeom>
          <a:noFill/>
          <a:ln w="8890">
            <a:solidFill>
              <a:srgbClr val="DC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platform returns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96596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1920240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summary by BU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0" y="2359152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313432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and overdue action items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0" y="2752344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2706624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issue highlights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0" y="3145536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3099816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impact summary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3538728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3493008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Executive-ready monthly summary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3931920"/>
            <a:ext cx="54864" cy="54864"/>
          </a:xfrm>
          <a:prstGeom prst="ellipse">
            <a:avLst/>
          </a:prstGeom>
          <a:solidFill>
            <a:srgbClr val="C9181E"/>
          </a:solidFill>
          <a:ln w="12700">
            <a:solidFill>
              <a:srgbClr val="C9181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6248" y="3886200"/>
            <a:ext cx="4599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priorities for escalation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Budget: Cost Categories Only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fixed numbers yet until technology choices are locked.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14400" y="1719072"/>
            <a:ext cx="384048" cy="0"/>
          </a:xfrm>
          <a:prstGeom prst="line">
            <a:avLst/>
          </a:prstGeom>
          <a:noFill/>
          <a:ln w="27940">
            <a:solidFill>
              <a:srgbClr val="C918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752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platform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715000" y="1719072"/>
            <a:ext cx="384048" cy="0"/>
          </a:xfrm>
          <a:prstGeom prst="line">
            <a:avLst/>
          </a:prstGeom>
          <a:noFill/>
          <a:ln w="27940">
            <a:solidFill>
              <a:srgbClr val="C918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384048" cy="0"/>
          </a:xfrm>
          <a:prstGeom prst="line">
            <a:avLst/>
          </a:prstGeom>
          <a:noFill/>
          <a:ln w="27940">
            <a:solidFill>
              <a:srgbClr val="1E5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4752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storage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715000" y="2313432"/>
            <a:ext cx="384048" cy="0"/>
          </a:xfrm>
          <a:prstGeom prst="line">
            <a:avLst/>
          </a:prstGeom>
          <a:noFill/>
          <a:ln w="27940">
            <a:solidFill>
              <a:srgbClr val="1E5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usage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914400" y="2907792"/>
            <a:ext cx="384048" cy="0"/>
          </a:xfrm>
          <a:prstGeom prst="line">
            <a:avLst/>
          </a:prstGeom>
          <a:noFill/>
          <a:ln w="27940">
            <a:solidFill>
              <a:srgbClr val="C9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2834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processing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715000" y="2907792"/>
            <a:ext cx="384048" cy="0"/>
          </a:xfrm>
          <a:prstGeom prst="line">
            <a:avLst/>
          </a:prstGeom>
          <a:noFill/>
          <a:ln w="27940">
            <a:solidFill>
              <a:srgbClr val="C98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834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 / search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914400" y="3502152"/>
            <a:ext cx="384048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715000" y="3502152"/>
            <a:ext cx="384048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 governance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914400" y="4096512"/>
            <a:ext cx="384048" cy="0"/>
          </a:xfrm>
          <a:prstGeom prst="line">
            <a:avLst/>
          </a:prstGeom>
          <a:noFill/>
          <a:ln w="27940">
            <a:solidFill>
              <a:srgbClr val="6C3D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4752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&amp; operations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5715000" y="4096512"/>
            <a:ext cx="384048" cy="0"/>
          </a:xfrm>
          <a:prstGeom prst="line">
            <a:avLst/>
          </a:prstGeom>
          <a:noFill/>
          <a:ln w="27940">
            <a:solidFill>
              <a:srgbClr val="6C3D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management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960120" y="5257800"/>
            <a:ext cx="10241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34440" y="5431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ClickUp/Jira note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543153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need to position it as a new agenda. It can remain the existing execution tool and integrate with the platform when validated actions need to become tasks.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Procurement SOP Governance Platform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493776"/>
            <a:ext cx="11201400" cy="0"/>
          </a:xfrm>
          <a:prstGeom prst="line">
            <a:avLst/>
          </a:prstGeom>
          <a:noFill/>
          <a:ln w="10160">
            <a:solidFill>
              <a:srgbClr val="D9E1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Measure Success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metrics, not pretty numbers with no decision attached.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1106424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" y="1581912"/>
            <a:ext cx="457200" cy="0"/>
          </a:xfrm>
          <a:prstGeom prst="line">
            <a:avLst/>
          </a:prstGeom>
          <a:noFill/>
          <a:ln w="27940">
            <a:solidFill>
              <a:srgbClr val="C918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837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SOPs onboarded and tagged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572000" y="1581912"/>
            <a:ext cx="457200" cy="0"/>
          </a:xfrm>
          <a:prstGeom prst="line">
            <a:avLst/>
          </a:prstGeom>
          <a:noFill/>
          <a:ln w="27940">
            <a:solidFill>
              <a:srgbClr val="1E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speed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837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SOP request-to-publication cycle time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275320" y="1581912"/>
            <a:ext cx="457200" cy="0"/>
          </a:xfrm>
          <a:prstGeom prst="line">
            <a:avLst/>
          </a:prstGeom>
          <a:noFill/>
          <a:ln w="27940">
            <a:solidFill>
              <a:srgbClr val="C98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speed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0" y="1837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Refinement review cycle time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68680" y="2660904"/>
            <a:ext cx="457200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findings vs false positives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572000" y="2660904"/>
            <a:ext cx="457200" cy="0"/>
          </a:xfrm>
          <a:prstGeom prst="line">
            <a:avLst/>
          </a:prstGeom>
          <a:noFill/>
          <a:ln w="27940">
            <a:solidFill>
              <a:srgbClr val="6C3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SLA and overdue items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275320" y="2660904"/>
            <a:ext cx="457200" cy="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4455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dashboard and copilot usage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22960" y="4800600"/>
            <a:ext cx="10652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5047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needed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54498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71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Confirm positioning and scope   2. Pick pilot business units   3. Confirm Corporate Compliance validation owner   4. Confirm initial references and languages   5. Approve the 3-month limited production launch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1384280" y="64922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8C0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Procurement SOP Governance Platform - Board Deck Polished</dc:title>
  <dc:subject>AI-Assisted Procurement SOP Governance Platform</dc:subject>
  <dc:creator>OpenAI</dc:creator>
  <cp:lastModifiedBy>OpenAI</cp:lastModifiedBy>
  <cp:revision>1</cp:revision>
  <dcterms:created xsi:type="dcterms:W3CDTF">2026-07-10T06:20:44Z</dcterms:created>
  <dcterms:modified xsi:type="dcterms:W3CDTF">2026-07-10T06:20:44Z</dcterms:modified>
</cp:coreProperties>
</file>